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5"/>
          <p:cNvSpPr/>
          <p:nvPr/>
        </p:nvSpPr>
        <p:spPr>
          <a:xfrm>
            <a:off x="575640" y="2633040"/>
            <a:ext cx="5449680" cy="3081600"/>
          </a:xfrm>
          <a:prstGeom prst="rect">
            <a:avLst/>
          </a:prstGeom>
          <a:solidFill>
            <a:srgbClr val="121212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Shape 3"/>
          <p:cNvSpPr/>
          <p:nvPr/>
        </p:nvSpPr>
        <p:spPr>
          <a:xfrm>
            <a:off x="247680" y="247680"/>
            <a:ext cx="11696400" cy="6362280"/>
          </a:xfrm>
          <a:prstGeom prst="rect">
            <a:avLst/>
          </a:prstGeom>
          <a:noFill/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Line 7"/>
          <p:cNvSpPr/>
          <p:nvPr/>
        </p:nvSpPr>
        <p:spPr>
          <a:xfrm>
            <a:off x="457200" y="895320"/>
            <a:ext cx="11277360" cy="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8"/>
          <p:cNvSpPr/>
          <p:nvPr/>
        </p:nvSpPr>
        <p:spPr>
          <a:xfrm rot="21584400">
            <a:off x="495720" y="1091880"/>
            <a:ext cx="27050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13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MINI PROJECT: HTML CSS Tailwind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9"/>
          <p:cNvSpPr/>
          <p:nvPr/>
        </p:nvSpPr>
        <p:spPr>
          <a:xfrm>
            <a:off x="495360" y="1395720"/>
            <a:ext cx="293364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400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LIBROPUNK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0"/>
          <p:cNvSpPr/>
          <p:nvPr/>
        </p:nvSpPr>
        <p:spPr>
          <a:xfrm>
            <a:off x="531360" y="2004480"/>
            <a:ext cx="476244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8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E-Book Marketplace: Eksplorasi katalog sampai detail buku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484560" y="2551320"/>
            <a:ext cx="5468040" cy="3090600"/>
          </a:xfrm>
          <a:prstGeom prst="rect">
            <a:avLst/>
          </a:prstGeom>
          <a:solidFill>
            <a:srgbClr val="121212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8"/>
          <p:cNvSpPr/>
          <p:nvPr/>
        </p:nvSpPr>
        <p:spPr>
          <a:xfrm>
            <a:off x="887760" y="5239440"/>
            <a:ext cx="2412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HTML  •  CSS  •  TAILWIND CSS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Line 28"/>
          <p:cNvSpPr/>
          <p:nvPr/>
        </p:nvSpPr>
        <p:spPr>
          <a:xfrm>
            <a:off x="457200" y="6210000"/>
            <a:ext cx="11277360" cy="0"/>
          </a:xfrm>
          <a:prstGeom prst="line">
            <a:avLst/>
          </a:prstGeom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9"/>
          <p:cNvSpPr/>
          <p:nvPr/>
        </p:nvSpPr>
        <p:spPr>
          <a:xfrm>
            <a:off x="495360" y="6345720"/>
            <a:ext cx="360072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82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LIBROPUNK  •  E-BOOK MARKETPLACE  •  ASSIGNMENT 1 + 2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910080" y="406080"/>
            <a:ext cx="1230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58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LIBROPUNK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472320" y="400320"/>
            <a:ext cx="323640" cy="323640"/>
          </a:xfrm>
          <a:prstGeom prst="rect">
            <a:avLst/>
          </a:prstGeom>
          <a:solidFill>
            <a:srgbClr val="FF6B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529560" y="457200"/>
            <a:ext cx="228240" cy="2282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9" name="Text 2"/>
          <p:cNvSpPr/>
          <p:nvPr/>
        </p:nvSpPr>
        <p:spPr>
          <a:xfrm>
            <a:off x="11014200" y="462240"/>
            <a:ext cx="7113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id-ID" sz="105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01 / 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495720" y="5810400"/>
            <a:ext cx="8758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Landing Page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6256800" y="5810400"/>
            <a:ext cx="8758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Detail Page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"/>
          <p:cNvPicPr/>
          <p:nvPr/>
        </p:nvPicPr>
        <p:blipFill>
          <a:blip r:embed="rId2"/>
          <a:stretch/>
        </p:blipFill>
        <p:spPr>
          <a:xfrm>
            <a:off x="506160" y="2568600"/>
            <a:ext cx="5437440" cy="30582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3" name="Shape 6"/>
          <p:cNvSpPr/>
          <p:nvPr/>
        </p:nvSpPr>
        <p:spPr>
          <a:xfrm>
            <a:off x="6335280" y="2632320"/>
            <a:ext cx="5449680" cy="3081600"/>
          </a:xfrm>
          <a:prstGeom prst="rect">
            <a:avLst/>
          </a:prstGeom>
          <a:solidFill>
            <a:srgbClr val="121212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6244200" y="2550600"/>
            <a:ext cx="5468040" cy="3090600"/>
          </a:xfrm>
          <a:prstGeom prst="rect">
            <a:avLst/>
          </a:prstGeom>
          <a:solidFill>
            <a:srgbClr val="121212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6647400" y="5238720"/>
            <a:ext cx="2412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HTML  •  CSS  •  TAILWIND CSS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/>
          <p:cNvPicPr/>
          <p:nvPr/>
        </p:nvPicPr>
        <p:blipFill>
          <a:blip r:embed="rId3"/>
          <a:stretch/>
        </p:blipFill>
        <p:spPr>
          <a:xfrm>
            <a:off x="6263640" y="2569320"/>
            <a:ext cx="5440680" cy="305424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3"/>
          <p:cNvSpPr/>
          <p:nvPr/>
        </p:nvSpPr>
        <p:spPr>
          <a:xfrm>
            <a:off x="247680" y="247680"/>
            <a:ext cx="11696400" cy="6362280"/>
          </a:xfrm>
          <a:prstGeom prst="rect">
            <a:avLst/>
          </a:prstGeom>
          <a:noFill/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4"/>
          <p:cNvSpPr/>
          <p:nvPr/>
        </p:nvSpPr>
        <p:spPr>
          <a:xfrm>
            <a:off x="471960" y="399960"/>
            <a:ext cx="323640" cy="323640"/>
          </a:xfrm>
          <a:prstGeom prst="rect">
            <a:avLst/>
          </a:prstGeom>
          <a:solidFill>
            <a:srgbClr val="FF6B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910080" y="406080"/>
            <a:ext cx="1230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58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LIBROPUNK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6"/>
          <p:cNvSpPr/>
          <p:nvPr/>
        </p:nvSpPr>
        <p:spPr>
          <a:xfrm>
            <a:off x="11014200" y="461880"/>
            <a:ext cx="7113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id-ID" sz="105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02 / 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Line 7"/>
          <p:cNvSpPr/>
          <p:nvPr/>
        </p:nvSpPr>
        <p:spPr>
          <a:xfrm>
            <a:off x="457200" y="895320"/>
            <a:ext cx="11277360" cy="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8"/>
          <p:cNvSpPr/>
          <p:nvPr/>
        </p:nvSpPr>
        <p:spPr>
          <a:xfrm>
            <a:off x="495360" y="1098360"/>
            <a:ext cx="13028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13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KONSEP PROYEK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9"/>
          <p:cNvSpPr/>
          <p:nvPr/>
        </p:nvSpPr>
        <p:spPr>
          <a:xfrm>
            <a:off x="495360" y="1359720"/>
            <a:ext cx="933444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r>
              <a:rPr lang="id-ID" sz="28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2</a:t>
            </a:r>
            <a:r>
              <a:rPr lang="id-ID" sz="28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 Halaman: Landing Page Katalog &amp; Detail E-Book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495360" y="1896480"/>
            <a:ext cx="924984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8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Buyer menemukan buku di katalog, lalu memeriksa detailnya sebelum mengambil keputusan.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495360" y="2490480"/>
            <a:ext cx="11191680" cy="542520"/>
          </a:xfrm>
          <a:prstGeom prst="rect">
            <a:avLst/>
          </a:prstGeom>
          <a:solidFill>
            <a:srgbClr val="FFE6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743040" y="2647800"/>
            <a:ext cx="16743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0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JELAJAHI KATALOG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5401440" y="2648160"/>
            <a:ext cx="157716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id-ID" sz="120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LIHAT DETAIL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7"/>
          <p:cNvSpPr/>
          <p:nvPr/>
        </p:nvSpPr>
        <p:spPr>
          <a:xfrm>
            <a:off x="578880" y="3431160"/>
            <a:ext cx="5257440" cy="25714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8"/>
          <p:cNvSpPr/>
          <p:nvPr/>
        </p:nvSpPr>
        <p:spPr>
          <a:xfrm>
            <a:off x="495360" y="3347640"/>
            <a:ext cx="5257440" cy="2571480"/>
          </a:xfrm>
          <a:prstGeom prst="rect">
            <a:avLst/>
          </a:prstGeom>
          <a:solidFill>
            <a:srgbClr val="FFFFFF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9"/>
          <p:cNvSpPr/>
          <p:nvPr/>
        </p:nvSpPr>
        <p:spPr>
          <a:xfrm>
            <a:off x="723960" y="3538080"/>
            <a:ext cx="993960" cy="247320"/>
          </a:xfrm>
          <a:prstGeom prst="rect">
            <a:avLst/>
          </a:prstGeom>
          <a:solidFill>
            <a:srgbClr val="00DDEB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872280" y="3571200"/>
            <a:ext cx="84564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0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HALAMAN 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723960" y="3905280"/>
            <a:ext cx="202716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202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Landing page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723960" y="4369680"/>
            <a:ext cx="342108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0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Fokus: memperkenalkan LIBROPUNK dan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3"/>
          <p:cNvSpPr/>
          <p:nvPr/>
        </p:nvSpPr>
        <p:spPr>
          <a:xfrm>
            <a:off x="723960" y="4608000"/>
            <a:ext cx="3893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0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membantu pengunjung menjelajahi katalog.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723960" y="5074200"/>
            <a:ext cx="31730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Hero &amp; pencarian  •  kategori pilihan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723960" y="5293440"/>
            <a:ext cx="25941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Buku unggulan  •  buku populer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6"/>
          <p:cNvSpPr/>
          <p:nvPr/>
        </p:nvSpPr>
        <p:spPr>
          <a:xfrm>
            <a:off x="723960" y="5512320"/>
            <a:ext cx="22636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Newsletter  •  footer toko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7"/>
          <p:cNvSpPr/>
          <p:nvPr/>
        </p:nvSpPr>
        <p:spPr>
          <a:xfrm>
            <a:off x="6131880" y="3431160"/>
            <a:ext cx="5638320" cy="25714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8"/>
          <p:cNvSpPr/>
          <p:nvPr/>
        </p:nvSpPr>
        <p:spPr>
          <a:xfrm>
            <a:off x="6048360" y="3347640"/>
            <a:ext cx="5638320" cy="2571480"/>
          </a:xfrm>
          <a:prstGeom prst="rect">
            <a:avLst/>
          </a:prstGeom>
          <a:solidFill>
            <a:srgbClr val="FFFFFF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9"/>
          <p:cNvSpPr/>
          <p:nvPr/>
        </p:nvSpPr>
        <p:spPr>
          <a:xfrm>
            <a:off x="6276960" y="3538080"/>
            <a:ext cx="993960" cy="247320"/>
          </a:xfrm>
          <a:prstGeom prst="rect">
            <a:avLst/>
          </a:prstGeom>
          <a:solidFill>
            <a:srgbClr val="FF88E8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0"/>
          <p:cNvSpPr/>
          <p:nvPr/>
        </p:nvSpPr>
        <p:spPr>
          <a:xfrm>
            <a:off x="6425280" y="3571200"/>
            <a:ext cx="84564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0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HALAMAN 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1"/>
          <p:cNvSpPr/>
          <p:nvPr/>
        </p:nvSpPr>
        <p:spPr>
          <a:xfrm>
            <a:off x="6276960" y="3905280"/>
            <a:ext cx="218664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202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Detail e-book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2"/>
          <p:cNvSpPr/>
          <p:nvPr/>
        </p:nvSpPr>
        <p:spPr>
          <a:xfrm>
            <a:off x="6276960" y="4369680"/>
            <a:ext cx="323208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0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Fokus: menjelaskan nilai buku dan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3"/>
          <p:cNvSpPr/>
          <p:nvPr/>
        </p:nvSpPr>
        <p:spPr>
          <a:xfrm>
            <a:off x="6276960" y="4608000"/>
            <a:ext cx="313740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0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memudahkan pembaca mengevaluasi.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4"/>
          <p:cNvSpPr/>
          <p:nvPr/>
        </p:nvSpPr>
        <p:spPr>
          <a:xfrm>
            <a:off x="6276960" y="5074200"/>
            <a:ext cx="23461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Atomic Habits — James Clear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5"/>
          <p:cNvSpPr/>
          <p:nvPr/>
        </p:nvSpPr>
        <p:spPr>
          <a:xfrm>
            <a:off x="6276960" y="5293440"/>
            <a:ext cx="34210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Ringkasan, rating, harga, format &amp; akses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6"/>
          <p:cNvSpPr/>
          <p:nvPr/>
        </p:nvSpPr>
        <p:spPr>
          <a:xfrm>
            <a:off x="6276960" y="5512320"/>
            <a:ext cx="36691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Pokok bahasan  •  profil penulis  •  ulasan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Line 38"/>
          <p:cNvSpPr/>
          <p:nvPr/>
        </p:nvSpPr>
        <p:spPr>
          <a:xfrm>
            <a:off x="457200" y="6210000"/>
            <a:ext cx="11277360" cy="0"/>
          </a:xfrm>
          <a:prstGeom prst="line">
            <a:avLst/>
          </a:prstGeom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9"/>
          <p:cNvSpPr/>
          <p:nvPr/>
        </p:nvSpPr>
        <p:spPr>
          <a:xfrm>
            <a:off x="495360" y="6345720"/>
            <a:ext cx="360072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82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LIBROPUNK  •  DIGITAL BOOKSTORE  •  ASSIGNMENT 1 + 2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2887200" y="2766600"/>
            <a:ext cx="1985400" cy="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7435800" y="2766600"/>
            <a:ext cx="1828800" cy="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ctr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"/>
          <p:cNvPicPr/>
          <p:nvPr/>
        </p:nvPicPr>
        <p:blipFill>
          <a:blip r:embed="rId1"/>
          <a:stretch/>
        </p:blipFill>
        <p:spPr>
          <a:xfrm>
            <a:off x="529560" y="457200"/>
            <a:ext cx="228240" cy="2282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64" name="Text 7"/>
          <p:cNvSpPr/>
          <p:nvPr/>
        </p:nvSpPr>
        <p:spPr>
          <a:xfrm>
            <a:off x="9889560" y="2622600"/>
            <a:ext cx="186948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0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BANDINGKAN PILIHAN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2"/>
          <p:cNvSpPr/>
          <p:nvPr/>
        </p:nvSpPr>
        <p:spPr>
          <a:xfrm>
            <a:off x="0" y="-36000"/>
            <a:ext cx="12191760" cy="6857640"/>
          </a:xfrm>
          <a:prstGeom prst="rect">
            <a:avLst/>
          </a:prstGeom>
          <a:solidFill>
            <a:srgbClr val="F8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3"/>
          <p:cNvSpPr/>
          <p:nvPr/>
        </p:nvSpPr>
        <p:spPr>
          <a:xfrm>
            <a:off x="247680" y="247680"/>
            <a:ext cx="11696400" cy="6362280"/>
          </a:xfrm>
          <a:prstGeom prst="rect">
            <a:avLst/>
          </a:prstGeom>
          <a:noFill/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Line 7"/>
          <p:cNvSpPr/>
          <p:nvPr/>
        </p:nvSpPr>
        <p:spPr>
          <a:xfrm>
            <a:off x="457200" y="895320"/>
            <a:ext cx="11277360" cy="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495360" y="1098360"/>
            <a:ext cx="33908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13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PILIHAN IMPLEMENTASI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9"/>
          <p:cNvSpPr/>
          <p:nvPr/>
        </p:nvSpPr>
        <p:spPr>
          <a:xfrm>
            <a:off x="495360" y="1359720"/>
            <a:ext cx="527544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28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CSS Native dan Tailwind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495360" y="1860480"/>
            <a:ext cx="1035396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8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Dua pendekatan dipakai pada dua halaman berbeda; hasil visual tetap mengikuti sistem desain yang sama.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1"/>
          <p:cNvSpPr/>
          <p:nvPr/>
        </p:nvSpPr>
        <p:spPr>
          <a:xfrm>
            <a:off x="495360" y="2382480"/>
            <a:ext cx="5381280" cy="685440"/>
          </a:xfrm>
          <a:prstGeom prst="rect">
            <a:avLst/>
          </a:prstGeom>
          <a:solidFill>
            <a:srgbClr val="FFE6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 anchorCtr="1">
            <a:noAutofit/>
          </a:bodyPr>
          <a:p>
            <a:pPr algn="ctr"/>
            <a:r>
              <a:rPr lang="id-ID" sz="165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CSS</a:t>
            </a: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dwaita Mono"/>
              </a:rPr>
              <a:t> </a:t>
            </a:r>
            <a:r>
              <a:rPr lang="id-ID" sz="165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NATIVE</a:t>
            </a:r>
            <a:endParaRPr lang="en-US" sz="1650" b="1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6114960" y="2382480"/>
            <a:ext cx="5571720" cy="685440"/>
          </a:xfrm>
          <a:prstGeom prst="rect">
            <a:avLst/>
          </a:prstGeom>
          <a:solidFill>
            <a:srgbClr val="00DDEB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id-ID" sz="165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TAILWIND CSS v4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5"/>
          <p:cNvSpPr/>
          <p:nvPr/>
        </p:nvSpPr>
        <p:spPr>
          <a:xfrm>
            <a:off x="495360" y="3239640"/>
            <a:ext cx="11191680" cy="618840"/>
          </a:xfrm>
          <a:prstGeom prst="rect">
            <a:avLst/>
          </a:prstGeom>
          <a:solidFill>
            <a:srgbClr val="FFFFFF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6"/>
          <p:cNvSpPr/>
          <p:nvPr/>
        </p:nvSpPr>
        <p:spPr>
          <a:xfrm>
            <a:off x="657360" y="3365640"/>
            <a:ext cx="9918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0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CARA MENULIS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7"/>
          <p:cNvSpPr/>
          <p:nvPr/>
        </p:nvSpPr>
        <p:spPr>
          <a:xfrm>
            <a:off x="2619360" y="3337560"/>
            <a:ext cx="22636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Aturan dipisah di file CSS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8"/>
          <p:cNvSpPr/>
          <p:nvPr/>
        </p:nvSpPr>
        <p:spPr>
          <a:xfrm>
            <a:off x="2619360" y="3528000"/>
            <a:ext cx="22636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dan dipanggil lewat class.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9"/>
          <p:cNvSpPr/>
          <p:nvPr/>
        </p:nvSpPr>
        <p:spPr>
          <a:xfrm>
            <a:off x="6381720" y="3337560"/>
            <a:ext cx="1932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Utility class langsung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0"/>
          <p:cNvSpPr/>
          <p:nvPr/>
        </p:nvSpPr>
        <p:spPr>
          <a:xfrm>
            <a:off x="6381720" y="3528000"/>
            <a:ext cx="20156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diterapkan pada elemen.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1"/>
          <p:cNvSpPr/>
          <p:nvPr/>
        </p:nvSpPr>
        <p:spPr>
          <a:xfrm>
            <a:off x="495360" y="3858840"/>
            <a:ext cx="11191680" cy="618840"/>
          </a:xfrm>
          <a:prstGeom prst="rect">
            <a:avLst/>
          </a:prstGeom>
          <a:solidFill>
            <a:srgbClr val="EFEAE1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2"/>
          <p:cNvSpPr/>
          <p:nvPr/>
        </p:nvSpPr>
        <p:spPr>
          <a:xfrm>
            <a:off x="657360" y="3984840"/>
            <a:ext cx="7722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0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KELEBIHAN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3"/>
          <p:cNvSpPr/>
          <p:nvPr/>
        </p:nvSpPr>
        <p:spPr>
          <a:xfrm>
            <a:off x="2619360" y="3956760"/>
            <a:ext cx="22636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Kontrol terpusat, selector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4"/>
          <p:cNvSpPr/>
          <p:nvPr/>
        </p:nvSpPr>
        <p:spPr>
          <a:xfrm>
            <a:off x="2619360" y="4147200"/>
            <a:ext cx="25941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mudah dibaca sebagai komponen.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25"/>
          <p:cNvSpPr/>
          <p:nvPr/>
        </p:nvSpPr>
        <p:spPr>
          <a:xfrm>
            <a:off x="6381720" y="3956760"/>
            <a:ext cx="23461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Cepat merakit layout, nilai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6"/>
          <p:cNvSpPr/>
          <p:nvPr/>
        </p:nvSpPr>
        <p:spPr>
          <a:xfrm>
            <a:off x="6381720" y="4147200"/>
            <a:ext cx="25117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responsif terlihat.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27"/>
          <p:cNvSpPr/>
          <p:nvPr/>
        </p:nvSpPr>
        <p:spPr>
          <a:xfrm>
            <a:off x="495360" y="4478040"/>
            <a:ext cx="11191680" cy="618840"/>
          </a:xfrm>
          <a:prstGeom prst="rect">
            <a:avLst/>
          </a:prstGeom>
          <a:solidFill>
            <a:srgbClr val="FFFFFF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8"/>
          <p:cNvSpPr/>
          <p:nvPr/>
        </p:nvSpPr>
        <p:spPr>
          <a:xfrm>
            <a:off x="657360" y="4604040"/>
            <a:ext cx="99180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0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PERTIMBANGAN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9"/>
          <p:cNvSpPr/>
          <p:nvPr/>
        </p:nvSpPr>
        <p:spPr>
          <a:xfrm>
            <a:off x="2619360" y="4575960"/>
            <a:ext cx="21808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Perlu menjaga konsistensi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0"/>
          <p:cNvSpPr/>
          <p:nvPr/>
        </p:nvSpPr>
        <p:spPr>
          <a:xfrm>
            <a:off x="2619360" y="4766400"/>
            <a:ext cx="1932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antar banyak selector.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31"/>
          <p:cNvSpPr/>
          <p:nvPr/>
        </p:nvSpPr>
        <p:spPr>
          <a:xfrm>
            <a:off x="6381720" y="4575960"/>
            <a:ext cx="22636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Class menjadi panjang, perlu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2"/>
          <p:cNvSpPr/>
          <p:nvPr/>
        </p:nvSpPr>
        <p:spPr>
          <a:xfrm>
            <a:off x="6381720" y="4766400"/>
            <a:ext cx="24289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rapi mengelompokkan utility.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3"/>
          <p:cNvSpPr/>
          <p:nvPr/>
        </p:nvSpPr>
        <p:spPr>
          <a:xfrm>
            <a:off x="495360" y="5096880"/>
            <a:ext cx="11191680" cy="618840"/>
          </a:xfrm>
          <a:prstGeom prst="rect">
            <a:avLst/>
          </a:prstGeom>
          <a:solidFill>
            <a:srgbClr val="EFEAE1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4"/>
          <p:cNvSpPr/>
          <p:nvPr/>
        </p:nvSpPr>
        <p:spPr>
          <a:xfrm>
            <a:off x="657360" y="5223240"/>
            <a:ext cx="1064880" cy="17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0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DI PROYEK INI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5"/>
          <p:cNvSpPr/>
          <p:nvPr/>
        </p:nvSpPr>
        <p:spPr>
          <a:xfrm>
            <a:off x="2619360" y="5194800"/>
            <a:ext cx="24289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Assignment 1: landing page,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6"/>
          <p:cNvSpPr/>
          <p:nvPr/>
        </p:nvSpPr>
        <p:spPr>
          <a:xfrm>
            <a:off x="2619360" y="5385240"/>
            <a:ext cx="21808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CSS Native tanpa webpack.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37"/>
          <p:cNvSpPr/>
          <p:nvPr/>
        </p:nvSpPr>
        <p:spPr>
          <a:xfrm>
            <a:off x="6381720" y="5194800"/>
            <a:ext cx="23461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Assignment 2: detail buku,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38"/>
          <p:cNvSpPr/>
          <p:nvPr/>
        </p:nvSpPr>
        <p:spPr>
          <a:xfrm>
            <a:off x="6381720" y="5385240"/>
            <a:ext cx="21808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Tailwind dengan webpack Vite.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Line 39"/>
          <p:cNvSpPr/>
          <p:nvPr/>
        </p:nvSpPr>
        <p:spPr>
          <a:xfrm>
            <a:off x="2381040" y="3239280"/>
            <a:ext cx="0" cy="2476800"/>
          </a:xfrm>
          <a:prstGeom prst="line">
            <a:avLst/>
          </a:prstGeom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Line 40"/>
          <p:cNvSpPr/>
          <p:nvPr/>
        </p:nvSpPr>
        <p:spPr>
          <a:xfrm>
            <a:off x="6143400" y="3239280"/>
            <a:ext cx="0" cy="2476800"/>
          </a:xfrm>
          <a:prstGeom prst="line">
            <a:avLst/>
          </a:prstGeom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1"/>
          <p:cNvSpPr/>
          <p:nvPr/>
        </p:nvSpPr>
        <p:spPr>
          <a:xfrm>
            <a:off x="495360" y="5832000"/>
            <a:ext cx="77202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Kesimpulan: Pilih pendekatan sesuai kebutuhan proyek.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Line 42"/>
          <p:cNvSpPr/>
          <p:nvPr/>
        </p:nvSpPr>
        <p:spPr>
          <a:xfrm>
            <a:off x="457200" y="6210000"/>
            <a:ext cx="11277360" cy="0"/>
          </a:xfrm>
          <a:prstGeom prst="line">
            <a:avLst/>
          </a:prstGeom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3"/>
          <p:cNvSpPr/>
          <p:nvPr/>
        </p:nvSpPr>
        <p:spPr>
          <a:xfrm>
            <a:off x="495360" y="6345720"/>
            <a:ext cx="360072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82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LIBROPUNK  •  DIGITAL BOOKSTORE  •  ASSIGNMENT 1 + 2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8"/>
          <p:cNvSpPr/>
          <p:nvPr/>
        </p:nvSpPr>
        <p:spPr>
          <a:xfrm>
            <a:off x="471960" y="400320"/>
            <a:ext cx="323640" cy="323640"/>
          </a:xfrm>
          <a:prstGeom prst="rect">
            <a:avLst/>
          </a:prstGeom>
          <a:solidFill>
            <a:srgbClr val="FF6B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910080" y="406440"/>
            <a:ext cx="1230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58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LIBROPUNK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529560" y="457560"/>
            <a:ext cx="228240" cy="2282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05" name="Text 11"/>
          <p:cNvSpPr/>
          <p:nvPr/>
        </p:nvSpPr>
        <p:spPr>
          <a:xfrm>
            <a:off x="11014200" y="462240"/>
            <a:ext cx="7113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id-ID" sz="105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03 / 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2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3"/>
          <p:cNvSpPr/>
          <p:nvPr/>
        </p:nvSpPr>
        <p:spPr>
          <a:xfrm>
            <a:off x="247680" y="247680"/>
            <a:ext cx="11696400" cy="6362280"/>
          </a:xfrm>
          <a:prstGeom prst="rect">
            <a:avLst/>
          </a:prstGeom>
          <a:noFill/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Line 7"/>
          <p:cNvSpPr/>
          <p:nvPr/>
        </p:nvSpPr>
        <p:spPr>
          <a:xfrm>
            <a:off x="457200" y="895320"/>
            <a:ext cx="11277360" cy="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495360" y="1098360"/>
            <a:ext cx="17600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13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DEMONSTRASI PROYEK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0"/>
          <p:cNvSpPr/>
          <p:nvPr/>
        </p:nvSpPr>
        <p:spPr>
          <a:xfrm>
            <a:off x="495360" y="1860480"/>
            <a:ext cx="453384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8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Tampilan responsive pada desktop hingga mobile menggunakan CSS Native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6823080" y="1740960"/>
            <a:ext cx="2221920" cy="39502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6757200" y="1683360"/>
            <a:ext cx="2212920" cy="3922920"/>
          </a:xfrm>
          <a:prstGeom prst="rect">
            <a:avLst/>
          </a:prstGeom>
          <a:solidFill>
            <a:srgbClr val="FFFFFF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5"/>
          <p:cNvSpPr/>
          <p:nvPr/>
        </p:nvSpPr>
        <p:spPr>
          <a:xfrm>
            <a:off x="9794520" y="2086200"/>
            <a:ext cx="1257120" cy="36190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6"/>
          <p:cNvSpPr/>
          <p:nvPr/>
        </p:nvSpPr>
        <p:spPr>
          <a:xfrm>
            <a:off x="9711000" y="2002680"/>
            <a:ext cx="1257120" cy="3619080"/>
          </a:xfrm>
          <a:prstGeom prst="rect">
            <a:avLst/>
          </a:prstGeom>
          <a:solidFill>
            <a:srgbClr val="FFE6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7"/>
          <p:cNvSpPr/>
          <p:nvPr/>
        </p:nvSpPr>
        <p:spPr>
          <a:xfrm>
            <a:off x="9863280" y="2300400"/>
            <a:ext cx="45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TABLE OF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8"/>
          <p:cNvSpPr/>
          <p:nvPr/>
        </p:nvSpPr>
        <p:spPr>
          <a:xfrm>
            <a:off x="9863280" y="2500560"/>
            <a:ext cx="5407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CONTENTS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9863280" y="2967120"/>
            <a:ext cx="7754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Hero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9863280" y="3262680"/>
            <a:ext cx="609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Category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9863280" y="3557880"/>
            <a:ext cx="6926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Featured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2"/>
          <p:cNvSpPr/>
          <p:nvPr/>
        </p:nvSpPr>
        <p:spPr>
          <a:xfrm>
            <a:off x="9863280" y="3853080"/>
            <a:ext cx="3618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Popular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3"/>
          <p:cNvSpPr/>
          <p:nvPr/>
        </p:nvSpPr>
        <p:spPr>
          <a:xfrm>
            <a:off x="9863280" y="4148280"/>
            <a:ext cx="609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Newsletter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4"/>
          <p:cNvSpPr/>
          <p:nvPr/>
        </p:nvSpPr>
        <p:spPr>
          <a:xfrm>
            <a:off x="9863280" y="4443480"/>
            <a:ext cx="8578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Footer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Line 26"/>
          <p:cNvSpPr/>
          <p:nvPr/>
        </p:nvSpPr>
        <p:spPr>
          <a:xfrm>
            <a:off x="457200" y="6210000"/>
            <a:ext cx="11277360" cy="0"/>
          </a:xfrm>
          <a:prstGeom prst="line">
            <a:avLst/>
          </a:prstGeom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7"/>
          <p:cNvSpPr/>
          <p:nvPr/>
        </p:nvSpPr>
        <p:spPr>
          <a:xfrm>
            <a:off x="495360" y="6345720"/>
            <a:ext cx="360072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82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LIBROPUNK  •  DIGITAL BOOKSTORE  •  ASSIGNMENT 1 + 2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612000" y="2561400"/>
            <a:ext cx="5449680" cy="3081600"/>
          </a:xfrm>
          <a:prstGeom prst="rect">
            <a:avLst/>
          </a:prstGeom>
          <a:solidFill>
            <a:srgbClr val="121212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3"/>
          <p:cNvSpPr/>
          <p:nvPr/>
        </p:nvSpPr>
        <p:spPr>
          <a:xfrm>
            <a:off x="520920" y="2479680"/>
            <a:ext cx="5468040" cy="3090600"/>
          </a:xfrm>
          <a:prstGeom prst="rect">
            <a:avLst/>
          </a:prstGeom>
          <a:solidFill>
            <a:srgbClr val="121212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8"/>
          <p:cNvSpPr/>
          <p:nvPr/>
        </p:nvSpPr>
        <p:spPr>
          <a:xfrm>
            <a:off x="924120" y="5167800"/>
            <a:ext cx="2412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HTML  •  CSS  •  TAILWIND CSS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"/>
          <p:cNvPicPr/>
          <p:nvPr/>
        </p:nvPicPr>
        <p:blipFill>
          <a:blip r:embed="rId1"/>
          <a:stretch/>
        </p:blipFill>
        <p:spPr>
          <a:xfrm>
            <a:off x="542520" y="2496960"/>
            <a:ext cx="5437440" cy="305820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29" name=""/>
          <p:cNvPicPr/>
          <p:nvPr/>
        </p:nvPicPr>
        <p:blipFill>
          <a:blip r:embed="rId2"/>
          <a:stretch/>
        </p:blipFill>
        <p:spPr>
          <a:xfrm>
            <a:off x="6787080" y="1704960"/>
            <a:ext cx="2161080" cy="38862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30" name="Text 40"/>
          <p:cNvSpPr/>
          <p:nvPr/>
        </p:nvSpPr>
        <p:spPr>
          <a:xfrm>
            <a:off x="495720" y="1360080"/>
            <a:ext cx="27046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28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Landing Page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42"/>
          <p:cNvSpPr/>
          <p:nvPr/>
        </p:nvSpPr>
        <p:spPr>
          <a:xfrm>
            <a:off x="541800" y="5799600"/>
            <a:ext cx="8758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Desktop View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44"/>
          <p:cNvSpPr/>
          <p:nvPr/>
        </p:nvSpPr>
        <p:spPr>
          <a:xfrm>
            <a:off x="6788520" y="5835600"/>
            <a:ext cx="8758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Mobile View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30"/>
          <p:cNvSpPr/>
          <p:nvPr/>
        </p:nvSpPr>
        <p:spPr>
          <a:xfrm>
            <a:off x="471960" y="400680"/>
            <a:ext cx="323640" cy="323640"/>
          </a:xfrm>
          <a:prstGeom prst="rect">
            <a:avLst/>
          </a:prstGeom>
          <a:solidFill>
            <a:srgbClr val="FF6B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910080" y="406800"/>
            <a:ext cx="1230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58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LIBROPUNK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"/>
          <p:cNvPicPr/>
          <p:nvPr/>
        </p:nvPicPr>
        <p:blipFill>
          <a:blip r:embed="rId3"/>
          <a:stretch/>
        </p:blipFill>
        <p:spPr>
          <a:xfrm>
            <a:off x="529560" y="457920"/>
            <a:ext cx="228240" cy="2282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36" name="Text 11"/>
          <p:cNvSpPr/>
          <p:nvPr/>
        </p:nvSpPr>
        <p:spPr>
          <a:xfrm>
            <a:off x="11014200" y="462600"/>
            <a:ext cx="7113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id-ID" sz="105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04 / 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42"/>
          <p:cNvSpPr/>
          <p:nvPr/>
        </p:nvSpPr>
        <p:spPr>
          <a:xfrm>
            <a:off x="0" y="360"/>
            <a:ext cx="12191760" cy="6857640"/>
          </a:xfrm>
          <a:prstGeom prst="rect">
            <a:avLst/>
          </a:prstGeom>
          <a:solidFill>
            <a:srgbClr val="F8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1"/>
          <p:cNvSpPr/>
          <p:nvPr/>
        </p:nvSpPr>
        <p:spPr>
          <a:xfrm>
            <a:off x="247680" y="247680"/>
            <a:ext cx="11696400" cy="6362280"/>
          </a:xfrm>
          <a:prstGeom prst="rect">
            <a:avLst/>
          </a:prstGeom>
          <a:noFill/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Line 7"/>
          <p:cNvSpPr/>
          <p:nvPr/>
        </p:nvSpPr>
        <p:spPr>
          <a:xfrm>
            <a:off x="457200" y="895320"/>
            <a:ext cx="11277360" cy="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8"/>
          <p:cNvSpPr/>
          <p:nvPr/>
        </p:nvSpPr>
        <p:spPr>
          <a:xfrm>
            <a:off x="495360" y="1098360"/>
            <a:ext cx="17600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13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DEMONSTRASI PROYEK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495360" y="1860480"/>
            <a:ext cx="316224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8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Tampilan responsive pada desktop hingga mobile menggunakan Tailwind CSS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36"/>
          <p:cNvSpPr/>
          <p:nvPr/>
        </p:nvSpPr>
        <p:spPr>
          <a:xfrm>
            <a:off x="6823080" y="1740960"/>
            <a:ext cx="2221920" cy="39502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7"/>
          <p:cNvSpPr/>
          <p:nvPr/>
        </p:nvSpPr>
        <p:spPr>
          <a:xfrm>
            <a:off x="6757200" y="1683360"/>
            <a:ext cx="2212920" cy="3922920"/>
          </a:xfrm>
          <a:prstGeom prst="rect">
            <a:avLst/>
          </a:prstGeom>
          <a:solidFill>
            <a:srgbClr val="FFFFFF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8"/>
          <p:cNvSpPr/>
          <p:nvPr/>
        </p:nvSpPr>
        <p:spPr>
          <a:xfrm>
            <a:off x="9794520" y="2086200"/>
            <a:ext cx="1257120" cy="361908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39"/>
          <p:cNvSpPr/>
          <p:nvPr/>
        </p:nvSpPr>
        <p:spPr>
          <a:xfrm>
            <a:off x="9711000" y="2002680"/>
            <a:ext cx="1257120" cy="3619080"/>
          </a:xfrm>
          <a:prstGeom prst="rect">
            <a:avLst/>
          </a:prstGeom>
          <a:solidFill>
            <a:srgbClr val="FFE6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9863280" y="2300400"/>
            <a:ext cx="4554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TABLE OF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9863280" y="2500560"/>
            <a:ext cx="5407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CONTENTS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9"/>
          <p:cNvSpPr/>
          <p:nvPr/>
        </p:nvSpPr>
        <p:spPr>
          <a:xfrm>
            <a:off x="9863280" y="2967120"/>
            <a:ext cx="7754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Catalog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9863280" y="3262680"/>
            <a:ext cx="609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Sinopsis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9863280" y="3557880"/>
            <a:ext cx="6926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Isi Buku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9863280" y="3853080"/>
            <a:ext cx="36180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Tentang Penulis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3"/>
          <p:cNvSpPr/>
          <p:nvPr/>
        </p:nvSpPr>
        <p:spPr>
          <a:xfrm>
            <a:off x="9863280" y="4148280"/>
            <a:ext cx="6098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CTA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4"/>
          <p:cNvSpPr/>
          <p:nvPr/>
        </p:nvSpPr>
        <p:spPr>
          <a:xfrm>
            <a:off x="9863280" y="4443480"/>
            <a:ext cx="8578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Footer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Line 26"/>
          <p:cNvSpPr/>
          <p:nvPr/>
        </p:nvSpPr>
        <p:spPr>
          <a:xfrm>
            <a:off x="457200" y="6210000"/>
            <a:ext cx="11277360" cy="0"/>
          </a:xfrm>
          <a:prstGeom prst="line">
            <a:avLst/>
          </a:prstGeom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7"/>
          <p:cNvSpPr/>
          <p:nvPr/>
        </p:nvSpPr>
        <p:spPr>
          <a:xfrm>
            <a:off x="495360" y="6345720"/>
            <a:ext cx="360072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82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LIBROPUNK  •  DIGITAL BOOKSTORE  •  ASSIGNMENT 1 + 2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40"/>
          <p:cNvSpPr/>
          <p:nvPr/>
        </p:nvSpPr>
        <p:spPr>
          <a:xfrm>
            <a:off x="612000" y="2561400"/>
            <a:ext cx="5449680" cy="3081600"/>
          </a:xfrm>
          <a:prstGeom prst="rect">
            <a:avLst/>
          </a:prstGeom>
          <a:solidFill>
            <a:srgbClr val="121212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41"/>
          <p:cNvSpPr/>
          <p:nvPr/>
        </p:nvSpPr>
        <p:spPr>
          <a:xfrm>
            <a:off x="520920" y="2479680"/>
            <a:ext cx="5468040" cy="3090600"/>
          </a:xfrm>
          <a:prstGeom prst="rect">
            <a:avLst/>
          </a:prstGeom>
          <a:solidFill>
            <a:srgbClr val="121212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"/>
          <p:cNvSpPr/>
          <p:nvPr/>
        </p:nvSpPr>
        <p:spPr>
          <a:xfrm>
            <a:off x="924120" y="5167800"/>
            <a:ext cx="241200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HTML  •  CSS  •  TAILWIND CSS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0"/>
          <p:cNvSpPr/>
          <p:nvPr/>
        </p:nvSpPr>
        <p:spPr>
          <a:xfrm>
            <a:off x="495720" y="1360080"/>
            <a:ext cx="270468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28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Detail Page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5"/>
          <p:cNvSpPr/>
          <p:nvPr/>
        </p:nvSpPr>
        <p:spPr>
          <a:xfrm>
            <a:off x="542160" y="5799600"/>
            <a:ext cx="8758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Desktop View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46"/>
          <p:cNvSpPr/>
          <p:nvPr/>
        </p:nvSpPr>
        <p:spPr>
          <a:xfrm>
            <a:off x="6788880" y="5835600"/>
            <a:ext cx="87588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Mobile View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"/>
          <p:cNvPicPr/>
          <p:nvPr/>
        </p:nvPicPr>
        <p:blipFill>
          <a:blip r:embed="rId1"/>
          <a:stretch/>
        </p:blipFill>
        <p:spPr>
          <a:xfrm>
            <a:off x="539640" y="2496240"/>
            <a:ext cx="5440680" cy="3054240"/>
          </a:xfrm>
          <a:prstGeom prst="rect">
            <a:avLst/>
          </a:prstGeom>
          <a:noFill/>
          <a:ln w="38160">
            <a:noFill/>
          </a:ln>
        </p:spPr>
      </p:pic>
      <p:pic>
        <p:nvPicPr>
          <p:cNvPr id="163" name=""/>
          <p:cNvPicPr/>
          <p:nvPr/>
        </p:nvPicPr>
        <p:blipFill>
          <a:blip r:embed="rId2"/>
          <a:stretch/>
        </p:blipFill>
        <p:spPr>
          <a:xfrm>
            <a:off x="6784920" y="1700640"/>
            <a:ext cx="2157840" cy="38862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64" name="Shape 35"/>
          <p:cNvSpPr/>
          <p:nvPr/>
        </p:nvSpPr>
        <p:spPr>
          <a:xfrm>
            <a:off x="471960" y="401040"/>
            <a:ext cx="323640" cy="323640"/>
          </a:xfrm>
          <a:prstGeom prst="rect">
            <a:avLst/>
          </a:prstGeom>
          <a:solidFill>
            <a:srgbClr val="FF6B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5"/>
          <p:cNvSpPr/>
          <p:nvPr/>
        </p:nvSpPr>
        <p:spPr>
          <a:xfrm>
            <a:off x="910080" y="407160"/>
            <a:ext cx="1230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58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LIBROPUNK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"/>
          <p:cNvPicPr/>
          <p:nvPr/>
        </p:nvPicPr>
        <p:blipFill>
          <a:blip r:embed="rId3"/>
          <a:stretch/>
        </p:blipFill>
        <p:spPr>
          <a:xfrm>
            <a:off x="529560" y="458280"/>
            <a:ext cx="228240" cy="2282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67" name="Text 11"/>
          <p:cNvSpPr/>
          <p:nvPr/>
        </p:nvSpPr>
        <p:spPr>
          <a:xfrm>
            <a:off x="11014200" y="462960"/>
            <a:ext cx="7113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id-ID" sz="105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05 / 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2"/>
          <p:cNvSpPr/>
          <p:nvPr/>
        </p:nvSpPr>
        <p:spPr>
          <a:xfrm>
            <a:off x="0" y="360"/>
            <a:ext cx="12191760" cy="6857640"/>
          </a:xfrm>
          <a:prstGeom prst="rect">
            <a:avLst/>
          </a:prstGeom>
          <a:solidFill>
            <a:srgbClr val="F8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247680" y="247680"/>
            <a:ext cx="11696400" cy="6362280"/>
          </a:xfrm>
          <a:prstGeom prst="rect">
            <a:avLst/>
          </a:prstGeom>
          <a:noFill/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Line 7"/>
          <p:cNvSpPr/>
          <p:nvPr/>
        </p:nvSpPr>
        <p:spPr>
          <a:xfrm>
            <a:off x="457200" y="895320"/>
            <a:ext cx="11277360" cy="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495360" y="1098360"/>
            <a:ext cx="7542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13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SHARING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495360" y="1395720"/>
            <a:ext cx="505080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28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Kendala &amp; pembelajaran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495360" y="1932480"/>
            <a:ext cx="623808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8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Beberapa keputusan implementasi yang memengaruhi hasil akhir.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578880" y="2574000"/>
            <a:ext cx="5333760" cy="15714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12"/>
          <p:cNvSpPr/>
          <p:nvPr/>
        </p:nvSpPr>
        <p:spPr>
          <a:xfrm>
            <a:off x="495360" y="2490480"/>
            <a:ext cx="5333760" cy="1571400"/>
          </a:xfrm>
          <a:prstGeom prst="rect">
            <a:avLst/>
          </a:prstGeom>
          <a:solidFill>
            <a:srgbClr val="FFFFFF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666720" y="2661840"/>
            <a:ext cx="399600" cy="323640"/>
          </a:xfrm>
          <a:prstGeom prst="rect">
            <a:avLst/>
          </a:prstGeom>
          <a:solidFill>
            <a:srgbClr val="00DDEB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795600" y="2724840"/>
            <a:ext cx="2725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01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1219320" y="2686680"/>
            <a:ext cx="2582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43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Navigasi dan pencarian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704880" y="3169440"/>
            <a:ext cx="50745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Menjaga menu tidak wrap dan search bar tidak mengambil ruang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7"/>
          <p:cNvSpPr/>
          <p:nvPr/>
        </p:nvSpPr>
        <p:spPr>
          <a:xfrm>
            <a:off x="704880" y="3378960"/>
            <a:ext cx="25941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berlebih di viewport menengah.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8"/>
          <p:cNvSpPr/>
          <p:nvPr/>
        </p:nvSpPr>
        <p:spPr>
          <a:xfrm>
            <a:off x="6198840" y="2574000"/>
            <a:ext cx="5571720" cy="15714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9"/>
          <p:cNvSpPr/>
          <p:nvPr/>
        </p:nvSpPr>
        <p:spPr>
          <a:xfrm>
            <a:off x="6114960" y="2490480"/>
            <a:ext cx="5571720" cy="1571400"/>
          </a:xfrm>
          <a:prstGeom prst="rect">
            <a:avLst/>
          </a:prstGeom>
          <a:solidFill>
            <a:srgbClr val="FFFFFF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0"/>
          <p:cNvSpPr/>
          <p:nvPr/>
        </p:nvSpPr>
        <p:spPr>
          <a:xfrm>
            <a:off x="6286680" y="2661840"/>
            <a:ext cx="399600" cy="323640"/>
          </a:xfrm>
          <a:prstGeom prst="rect">
            <a:avLst/>
          </a:prstGeom>
          <a:solidFill>
            <a:srgbClr val="FF88E8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1"/>
          <p:cNvSpPr/>
          <p:nvPr/>
        </p:nvSpPr>
        <p:spPr>
          <a:xfrm>
            <a:off x="6419160" y="2724840"/>
            <a:ext cx="2725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02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2"/>
          <p:cNvSpPr/>
          <p:nvPr/>
        </p:nvSpPr>
        <p:spPr>
          <a:xfrm>
            <a:off x="6838920" y="2686680"/>
            <a:ext cx="31435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43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Responsif dari detail page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3"/>
          <p:cNvSpPr/>
          <p:nvPr/>
        </p:nvSpPr>
        <p:spPr>
          <a:xfrm>
            <a:off x="6324480" y="3169440"/>
            <a:ext cx="466128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Kolom detail berubah menjadi satu kolom di layar kecil,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4"/>
          <p:cNvSpPr/>
          <p:nvPr/>
        </p:nvSpPr>
        <p:spPr>
          <a:xfrm>
            <a:off x="6324480" y="3378960"/>
            <a:ext cx="350352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dengan cover, harga, dan CTA tetap jelas.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5"/>
          <p:cNvSpPr/>
          <p:nvPr/>
        </p:nvSpPr>
        <p:spPr>
          <a:xfrm>
            <a:off x="578880" y="4383720"/>
            <a:ext cx="5333760" cy="15714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26"/>
          <p:cNvSpPr/>
          <p:nvPr/>
        </p:nvSpPr>
        <p:spPr>
          <a:xfrm>
            <a:off x="495360" y="4300200"/>
            <a:ext cx="5333760" cy="1571400"/>
          </a:xfrm>
          <a:prstGeom prst="rect">
            <a:avLst/>
          </a:prstGeom>
          <a:solidFill>
            <a:srgbClr val="FFFFFF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7"/>
          <p:cNvSpPr/>
          <p:nvPr/>
        </p:nvSpPr>
        <p:spPr>
          <a:xfrm>
            <a:off x="666720" y="4471560"/>
            <a:ext cx="399600" cy="323640"/>
          </a:xfrm>
          <a:prstGeom prst="rect">
            <a:avLst/>
          </a:prstGeom>
          <a:solidFill>
            <a:srgbClr val="00D995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8"/>
          <p:cNvSpPr/>
          <p:nvPr/>
        </p:nvSpPr>
        <p:spPr>
          <a:xfrm>
            <a:off x="795600" y="4535280"/>
            <a:ext cx="2725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9"/>
          <p:cNvSpPr/>
          <p:nvPr/>
        </p:nvSpPr>
        <p:spPr>
          <a:xfrm>
            <a:off x="1219320" y="4496400"/>
            <a:ext cx="213372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43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Ikon SVG dan warna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0"/>
          <p:cNvSpPr/>
          <p:nvPr/>
        </p:nvSpPr>
        <p:spPr>
          <a:xfrm>
            <a:off x="704880" y="4979160"/>
            <a:ext cx="50745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SVG melalui &lt;img&gt; tidak mewarisi currentColor seperti inline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1"/>
          <p:cNvSpPr/>
          <p:nvPr/>
        </p:nvSpPr>
        <p:spPr>
          <a:xfrm>
            <a:off x="704880" y="5188680"/>
            <a:ext cx="43304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SVG. Ikon panah putih diatur dengan filter utility.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32"/>
          <p:cNvSpPr/>
          <p:nvPr/>
        </p:nvSpPr>
        <p:spPr>
          <a:xfrm>
            <a:off x="6198840" y="4383720"/>
            <a:ext cx="5571720" cy="157140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3"/>
          <p:cNvSpPr/>
          <p:nvPr/>
        </p:nvSpPr>
        <p:spPr>
          <a:xfrm>
            <a:off x="6114960" y="4300200"/>
            <a:ext cx="5571720" cy="1571400"/>
          </a:xfrm>
          <a:prstGeom prst="rect">
            <a:avLst/>
          </a:prstGeom>
          <a:solidFill>
            <a:srgbClr val="FFFFFF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4"/>
          <p:cNvSpPr/>
          <p:nvPr/>
        </p:nvSpPr>
        <p:spPr>
          <a:xfrm>
            <a:off x="6286680" y="4471560"/>
            <a:ext cx="399600" cy="323640"/>
          </a:xfrm>
          <a:prstGeom prst="rect">
            <a:avLst/>
          </a:prstGeom>
          <a:solidFill>
            <a:srgbClr val="FFE600"/>
          </a:solidFill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5"/>
          <p:cNvSpPr/>
          <p:nvPr/>
        </p:nvSpPr>
        <p:spPr>
          <a:xfrm>
            <a:off x="6419160" y="4535280"/>
            <a:ext cx="2725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98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04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6"/>
          <p:cNvSpPr/>
          <p:nvPr/>
        </p:nvSpPr>
        <p:spPr>
          <a:xfrm>
            <a:off x="6838920" y="4496400"/>
            <a:ext cx="2582280" cy="28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43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Batas prototipe statis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7"/>
          <p:cNvSpPr/>
          <p:nvPr/>
        </p:nvSpPr>
        <p:spPr>
          <a:xfrm>
            <a:off x="6324480" y="4979160"/>
            <a:ext cx="424764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Konten dan CTA menggambarkan alur toko; pencarian,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8"/>
          <p:cNvSpPr/>
          <p:nvPr/>
        </p:nvSpPr>
        <p:spPr>
          <a:xfrm>
            <a:off x="6324480" y="5188680"/>
            <a:ext cx="50745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05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keranjang, pembelian, dan ulasan belum terhubung ke backend.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Line 40"/>
          <p:cNvSpPr/>
          <p:nvPr/>
        </p:nvSpPr>
        <p:spPr>
          <a:xfrm>
            <a:off x="457200" y="6210000"/>
            <a:ext cx="11277360" cy="0"/>
          </a:xfrm>
          <a:prstGeom prst="line">
            <a:avLst/>
          </a:prstGeom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41"/>
          <p:cNvSpPr/>
          <p:nvPr/>
        </p:nvSpPr>
        <p:spPr>
          <a:xfrm>
            <a:off x="495360" y="6345720"/>
            <a:ext cx="360072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82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LIBROPUNK  •  DIGITAL BOOKSTORE  •  ASSIGNMENT 1 + 2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3"/>
          <p:cNvSpPr/>
          <p:nvPr/>
        </p:nvSpPr>
        <p:spPr>
          <a:xfrm>
            <a:off x="471960" y="401040"/>
            <a:ext cx="323640" cy="323640"/>
          </a:xfrm>
          <a:prstGeom prst="rect">
            <a:avLst/>
          </a:prstGeom>
          <a:solidFill>
            <a:srgbClr val="FF6B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910080" y="407160"/>
            <a:ext cx="1230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58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LIBROPUNK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6" name=""/>
          <p:cNvPicPr/>
          <p:nvPr/>
        </p:nvPicPr>
        <p:blipFill>
          <a:blip r:embed="rId1"/>
          <a:stretch/>
        </p:blipFill>
        <p:spPr>
          <a:xfrm>
            <a:off x="529560" y="458280"/>
            <a:ext cx="228240" cy="2282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07" name="Text 11"/>
          <p:cNvSpPr/>
          <p:nvPr/>
        </p:nvSpPr>
        <p:spPr>
          <a:xfrm>
            <a:off x="11014200" y="462960"/>
            <a:ext cx="7113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id-ID" sz="105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06 / 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3"/>
          <p:cNvSpPr/>
          <p:nvPr/>
        </p:nvSpPr>
        <p:spPr>
          <a:xfrm>
            <a:off x="247680" y="247680"/>
            <a:ext cx="11696400" cy="6362280"/>
          </a:xfrm>
          <a:prstGeom prst="rect">
            <a:avLst/>
          </a:prstGeom>
          <a:noFill/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Line 7"/>
          <p:cNvSpPr/>
          <p:nvPr/>
        </p:nvSpPr>
        <p:spPr>
          <a:xfrm>
            <a:off x="457200" y="895320"/>
            <a:ext cx="11277360" cy="0"/>
          </a:xfrm>
          <a:prstGeom prst="line">
            <a:avLst/>
          </a:prstGeom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495360" y="1467720"/>
            <a:ext cx="3031200" cy="56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285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Terima kasih!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495360" y="1968480"/>
            <a:ext cx="2476440" cy="25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280" b="0" u="none" strike="noStrike">
                <a:solidFill>
                  <a:srgbClr val="5C5C5C"/>
                </a:solidFill>
                <a:effectLst/>
                <a:uFillTx/>
                <a:latin typeface="Arial"/>
              </a:rPr>
              <a:t>Atas perhatian dan waktunya.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1"/>
          <p:cNvSpPr/>
          <p:nvPr/>
        </p:nvSpPr>
        <p:spPr>
          <a:xfrm>
            <a:off x="578880" y="2561400"/>
            <a:ext cx="11191680" cy="2857320"/>
          </a:xfrm>
          <a:prstGeom prst="rect">
            <a:avLst/>
          </a:prstGeom>
          <a:solidFill>
            <a:srgbClr val="1212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2"/>
          <p:cNvSpPr/>
          <p:nvPr/>
        </p:nvSpPr>
        <p:spPr>
          <a:xfrm>
            <a:off x="495360" y="2477520"/>
            <a:ext cx="11191680" cy="2857320"/>
          </a:xfrm>
          <a:prstGeom prst="rect">
            <a:avLst/>
          </a:prstGeom>
          <a:solidFill>
            <a:srgbClr val="FF80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3"/>
          <p:cNvSpPr/>
          <p:nvPr/>
        </p:nvSpPr>
        <p:spPr>
          <a:xfrm>
            <a:off x="876240" y="2719080"/>
            <a:ext cx="2558880" cy="67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400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LIBROPUNK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4"/>
          <p:cNvSpPr/>
          <p:nvPr/>
        </p:nvSpPr>
        <p:spPr>
          <a:xfrm>
            <a:off x="895320" y="3437280"/>
            <a:ext cx="166860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130" b="1" u="none" strike="noStrike">
                <a:solidFill>
                  <a:srgbClr val="000000"/>
                </a:solidFill>
                <a:effectLst/>
                <a:highlight>
                  <a:srgbClr val="000000"/>
                </a:highlight>
                <a:uFillTx/>
                <a:latin typeface="Courier New"/>
              </a:rPr>
              <a:t>DIGITAL BOOKSTORE</a:t>
            </a:r>
            <a:endParaRPr lang="en-US" sz="1130" b="0" u="none" strike="noStrike">
              <a:solidFill>
                <a:srgbClr val="000000"/>
              </a:solidFill>
              <a:effectLst/>
              <a:highlight>
                <a:srgbClr val="000000"/>
              </a:highlight>
              <a:uFillTx/>
              <a:latin typeface="Arial"/>
            </a:endParaRPr>
          </a:p>
        </p:txBody>
      </p:sp>
      <p:sp>
        <p:nvSpPr>
          <p:cNvPr id="217" name="Shape 15"/>
          <p:cNvSpPr/>
          <p:nvPr/>
        </p:nvSpPr>
        <p:spPr>
          <a:xfrm>
            <a:off x="876240" y="4073760"/>
            <a:ext cx="10477080" cy="18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5920" rIns="90000" bIns="-2592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7"/>
          <p:cNvSpPr/>
          <p:nvPr/>
        </p:nvSpPr>
        <p:spPr>
          <a:xfrm>
            <a:off x="912240" y="4630320"/>
            <a:ext cx="443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350" b="1" u="none" strike="noStrike">
                <a:solidFill>
                  <a:srgbClr val="121212"/>
                </a:solidFill>
                <a:effectLst/>
                <a:uFillTx/>
                <a:latin typeface="Courier New"/>
              </a:rPr>
              <a:t>Q&amp;A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9"/>
          <p:cNvSpPr/>
          <p:nvPr/>
        </p:nvSpPr>
        <p:spPr>
          <a:xfrm>
            <a:off x="867960" y="4514760"/>
            <a:ext cx="969120" cy="484560"/>
          </a:xfrm>
          <a:prstGeom prst="rect">
            <a:avLst/>
          </a:prstGeom>
          <a:solidFill>
            <a:srgbClr val="00000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0"/>
          <p:cNvSpPr/>
          <p:nvPr/>
        </p:nvSpPr>
        <p:spPr>
          <a:xfrm>
            <a:off x="914400" y="4550760"/>
            <a:ext cx="969120" cy="484560"/>
          </a:xfrm>
          <a:prstGeom prst="rect">
            <a:avLst/>
          </a:prstGeom>
          <a:solidFill>
            <a:srgbClr val="00000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912240" y="4550760"/>
            <a:ext cx="875880" cy="399600"/>
          </a:xfrm>
          <a:prstGeom prst="rect">
            <a:avLst/>
          </a:prstGeom>
          <a:solidFill>
            <a:srgbClr val="FFE600"/>
          </a:solidFill>
          <a:ln w="255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9"/>
          <p:cNvSpPr/>
          <p:nvPr/>
        </p:nvSpPr>
        <p:spPr>
          <a:xfrm>
            <a:off x="1174680" y="4613400"/>
            <a:ext cx="443160" cy="26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350" b="1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Q&amp;A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Line 21"/>
          <p:cNvSpPr/>
          <p:nvPr/>
        </p:nvSpPr>
        <p:spPr>
          <a:xfrm>
            <a:off x="457200" y="6210000"/>
            <a:ext cx="11277360" cy="0"/>
          </a:xfrm>
          <a:prstGeom prst="line">
            <a:avLst/>
          </a:prstGeom>
          <a:ln w="255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2"/>
          <p:cNvSpPr/>
          <p:nvPr/>
        </p:nvSpPr>
        <p:spPr>
          <a:xfrm>
            <a:off x="495360" y="6345720"/>
            <a:ext cx="3600720" cy="16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82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LIBROPUNK  •  DIGITAL BOOKSTORE  •  ASSIGNMENT 1 + 2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7"/>
          <p:cNvSpPr/>
          <p:nvPr/>
        </p:nvSpPr>
        <p:spPr>
          <a:xfrm>
            <a:off x="495720" y="1098360"/>
            <a:ext cx="8758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13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PENUTUP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44"/>
          <p:cNvSpPr/>
          <p:nvPr/>
        </p:nvSpPr>
        <p:spPr>
          <a:xfrm>
            <a:off x="471960" y="401040"/>
            <a:ext cx="323640" cy="323640"/>
          </a:xfrm>
          <a:prstGeom prst="rect">
            <a:avLst/>
          </a:prstGeom>
          <a:solidFill>
            <a:srgbClr val="FF6B00"/>
          </a:solidFill>
          <a:ln w="38160">
            <a:solidFill>
              <a:schemeClr val="accent1">
                <a:lumMod val="75000"/>
                <a:lumOff val="0"/>
              </a:scheme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5"/>
          <p:cNvSpPr/>
          <p:nvPr/>
        </p:nvSpPr>
        <p:spPr>
          <a:xfrm>
            <a:off x="910080" y="407160"/>
            <a:ext cx="123012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>
              <a:lnSpc>
                <a:spcPct val="100000"/>
              </a:lnSpc>
            </a:pPr>
            <a:r>
              <a:rPr lang="id-ID" sz="1580" b="1" u="none" strike="noStrike">
                <a:solidFill>
                  <a:srgbClr val="121212"/>
                </a:solidFill>
                <a:effectLst/>
                <a:uFillTx/>
                <a:latin typeface="Arial"/>
              </a:rPr>
              <a:t>LIBROPUNK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8" name=""/>
          <p:cNvPicPr/>
          <p:nvPr/>
        </p:nvPicPr>
        <p:blipFill>
          <a:blip r:embed="rId1"/>
          <a:stretch/>
        </p:blipFill>
        <p:spPr>
          <a:xfrm>
            <a:off x="529560" y="458280"/>
            <a:ext cx="228240" cy="22824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229" name="Text 11"/>
          <p:cNvSpPr/>
          <p:nvPr/>
        </p:nvSpPr>
        <p:spPr>
          <a:xfrm>
            <a:off x="11014200" y="462960"/>
            <a:ext cx="711360" cy="2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ctr">
            <a:noAutofit/>
          </a:bodyPr>
          <a:p>
            <a:pPr algn="r">
              <a:lnSpc>
                <a:spcPct val="100000"/>
              </a:lnSpc>
            </a:pPr>
            <a:r>
              <a:rPr lang="id-ID" sz="1050" b="1" u="none" strike="noStrike">
                <a:solidFill>
                  <a:srgbClr val="5C5C5C"/>
                </a:solidFill>
                <a:effectLst/>
                <a:uFillTx/>
                <a:latin typeface="Courier New"/>
              </a:rPr>
              <a:t>07 / 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LIBROPUNK">
  <a:themeElements>
    <a:clrScheme name="LP">
      <a:dk1>
        <a:srgbClr val="121212"/>
      </a:dk1>
      <a:lt1>
        <a:srgbClr val="FFFFFF"/>
      </a:lt1>
      <a:dk2>
        <a:srgbClr val="5C5C5C"/>
      </a:dk2>
      <a:lt2>
        <a:srgbClr val="F8F5EE"/>
      </a:lt2>
      <a:accent1>
        <a:srgbClr val="FFE600"/>
      </a:accent1>
      <a:accent2>
        <a:srgbClr val="FF6B00"/>
      </a:accent2>
      <a:accent3>
        <a:srgbClr val="00DDEB"/>
      </a:accent3>
      <a:accent4>
        <a:srgbClr val="FF88E8"/>
      </a:accent4>
      <a:accent5>
        <a:srgbClr val="00D995"/>
      </a:accent5>
      <a:accent6>
        <a:srgbClr val="E8FCFF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LibreOffice/26.8.1.1$Linux_X86_64 LibreOffice_project/0fee9b7af4ed8823fb6ed0b53e2a3e73b2087f4b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2026-10-19T15:15:42Z</dcterms:modified>
  <cp:revision>10</cp:revision>
  <dc:subject/>
  <dc:title/>
</cp:coreProperties>
</file>